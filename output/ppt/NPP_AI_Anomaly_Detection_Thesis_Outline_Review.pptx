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4071bb7b9b417e" /><Relationship Type="http://schemas.openxmlformats.org/officeDocument/2006/relationships/extended-properties" Target="/docProps/app.xml" Id="R2c859ac378064fef" /><Relationship Type="http://schemas.openxmlformats.org/officeDocument/2006/relationships/officeDocument" Target="/ppt/presentation.xml" Id="R8dfb724b3330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3032dc8cbf481a"/>
  </p:sldMasterIdLst>
  <p:notesMasterIdLst>
    <p:notesMasterId xmlns:r="http://schemas.openxmlformats.org/officeDocument/2006/relationships" r:id="R8f2e976ef46d408e"/>
  </p:notesMasterIdLst>
  <p:sldIdLst>
    <p:sldId xmlns:r="http://schemas.openxmlformats.org/officeDocument/2006/relationships" id="256" r:id="Rbc4866093c68483e"/>
    <p:sldId xmlns:r="http://schemas.openxmlformats.org/officeDocument/2006/relationships" id="257" r:id="Rb2eab4cd912f425b"/>
    <p:sldId xmlns:r="http://schemas.openxmlformats.org/officeDocument/2006/relationships" id="258" r:id="R45812ab67bd24c06"/>
    <p:sldId xmlns:r="http://schemas.openxmlformats.org/officeDocument/2006/relationships" id="259" r:id="Rf80b129683574388"/>
    <p:sldId xmlns:r="http://schemas.openxmlformats.org/officeDocument/2006/relationships" id="260" r:id="R164231d9e9f9454d"/>
    <p:sldId xmlns:r="http://schemas.openxmlformats.org/officeDocument/2006/relationships" id="261" r:id="Ra95ead77b64d4e2f"/>
    <p:sldId xmlns:r="http://schemas.openxmlformats.org/officeDocument/2006/relationships" id="262" r:id="Rba4f3d84ac17485b"/>
    <p:sldId xmlns:r="http://schemas.openxmlformats.org/officeDocument/2006/relationships" id="263" r:id="Rf528aec591824d10"/>
    <p:sldId xmlns:r="http://schemas.openxmlformats.org/officeDocument/2006/relationships" id="264" r:id="Reeafe28a84154a0b"/>
    <p:sldId xmlns:r="http://schemas.openxmlformats.org/officeDocument/2006/relationships" id="265" r:id="R05bc798dc9524ba6"/>
    <p:sldId xmlns:r="http://schemas.openxmlformats.org/officeDocument/2006/relationships" id="266" r:id="R40c3c1490e0846d5"/>
    <p:sldId xmlns:r="http://schemas.openxmlformats.org/officeDocument/2006/relationships" id="267" r:id="Ra665415921d34e06"/>
    <p:sldId xmlns:r="http://schemas.openxmlformats.org/officeDocument/2006/relationships" id="268" r:id="Rc6f57576736f4b79"/>
    <p:sldId xmlns:r="http://schemas.openxmlformats.org/officeDocument/2006/relationships" id="269" r:id="Rc69caba5dcc74ec9"/>
    <p:sldId xmlns:r="http://schemas.openxmlformats.org/officeDocument/2006/relationships" id="270" r:id="R75d1c531214f495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032dc8cbf481a" /><Relationship Type="http://schemas.openxmlformats.org/officeDocument/2006/relationships/theme" Target="/ppt/theme/theme1.xml" Id="Re1dbf1740466421c" /><Relationship Type="http://schemas.openxmlformats.org/officeDocument/2006/relationships/notesMaster" Target="/ppt/notesMasters/notesMaster1.xml" Id="R8f2e976ef46d408e" /><Relationship Type="http://schemas.openxmlformats.org/officeDocument/2006/relationships/presProps" Target="/ppt/presProps.xml" Id="R969c4bcfdc344815" /><Relationship Type="http://schemas.openxmlformats.org/officeDocument/2006/relationships/viewProps" Target="/ppt/viewProps.xml" Id="R436215fcb1c8435d" /><Relationship Type="http://schemas.openxmlformats.org/officeDocument/2006/relationships/tableStyles" Target="/ppt/tableStyles.xml" Id="R3ba61968ee5942b8" /><Relationship Type="http://schemas.openxmlformats.org/officeDocument/2006/relationships/slide" Target="/ppt/slides/slide1.xml" Id="Rbc4866093c68483e" /><Relationship Type="http://schemas.openxmlformats.org/officeDocument/2006/relationships/slide" Target="/ppt/slides/slide2.xml" Id="Rb2eab4cd912f425b" /><Relationship Type="http://schemas.openxmlformats.org/officeDocument/2006/relationships/slide" Target="/ppt/slides/slide3.xml" Id="R45812ab67bd24c06" /><Relationship Type="http://schemas.openxmlformats.org/officeDocument/2006/relationships/slide" Target="/ppt/slides/slide4.xml" Id="Rf80b129683574388" /><Relationship Type="http://schemas.openxmlformats.org/officeDocument/2006/relationships/slide" Target="/ppt/slides/slide5.xml" Id="R164231d9e9f9454d" /><Relationship Type="http://schemas.openxmlformats.org/officeDocument/2006/relationships/slide" Target="/ppt/slides/slide6.xml" Id="Ra95ead77b64d4e2f" /><Relationship Type="http://schemas.openxmlformats.org/officeDocument/2006/relationships/slide" Target="/ppt/slides/slide7.xml" Id="Rba4f3d84ac17485b" /><Relationship Type="http://schemas.openxmlformats.org/officeDocument/2006/relationships/slide" Target="/ppt/slides/slide8.xml" Id="Rf528aec591824d10" /><Relationship Type="http://schemas.openxmlformats.org/officeDocument/2006/relationships/slide" Target="/ppt/slides/slide9.xml" Id="Reeafe28a84154a0b" /><Relationship Type="http://schemas.openxmlformats.org/officeDocument/2006/relationships/slide" Target="/ppt/slides/slide10.xml" Id="R05bc798dc9524ba6" /><Relationship Type="http://schemas.openxmlformats.org/officeDocument/2006/relationships/slide" Target="/ppt/slides/slide11.xml" Id="R40c3c1490e0846d5" /><Relationship Type="http://schemas.openxmlformats.org/officeDocument/2006/relationships/slide" Target="/ppt/slides/slide12.xml" Id="Ra665415921d34e06" /><Relationship Type="http://schemas.openxmlformats.org/officeDocument/2006/relationships/slide" Target="/ppt/slides/slide13.xml" Id="Rc6f57576736f4b79" /><Relationship Type="http://schemas.openxmlformats.org/officeDocument/2006/relationships/slide" Target="/ppt/slides/slide14.xml" Id="Rc69caba5dcc74ec9" /><Relationship Type="http://schemas.openxmlformats.org/officeDocument/2006/relationships/slide" Target="/ppt/slides/slide15.xml" Id="R75d1c531214f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58b7cca713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38e3da6a44b9d" /><Relationship Type="http://schemas.openxmlformats.org/officeDocument/2006/relationships/notesMaster" Target="/ppt/notesMasters/notesMaster1.xml" Id="R298cd2ddf00e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d30bb78cd2470e" /><Relationship Type="http://schemas.openxmlformats.org/officeDocument/2006/relationships/notesMaster" Target="/ppt/notesMasters/notesMaster1.xml" Id="R69bde5784297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3c0b1805d4734" /><Relationship Type="http://schemas.openxmlformats.org/officeDocument/2006/relationships/notesMaster" Target="/ppt/notesMasters/notesMaster1.xml" Id="Rdcd34bea013b45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b8ad7a3d3e4d5c" /><Relationship Type="http://schemas.openxmlformats.org/officeDocument/2006/relationships/notesMaster" Target="/ppt/notesMasters/notesMaster1.xml" Id="R086662652ca342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14d9e8f504a5f" /><Relationship Type="http://schemas.openxmlformats.org/officeDocument/2006/relationships/notesMaster" Target="/ppt/notesMasters/notesMaster1.xml" Id="Rcb2921b92879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86f092d1a4521" /><Relationship Type="http://schemas.openxmlformats.org/officeDocument/2006/relationships/notesMaster" Target="/ppt/notesMasters/notesMaster1.xml" Id="R19513e368a534b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6d9a7e6e64e55" /><Relationship Type="http://schemas.openxmlformats.org/officeDocument/2006/relationships/notesMaster" Target="/ppt/notesMasters/notesMaster1.xml" Id="R0d3a1d7b62ab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42e78cde54717" /><Relationship Type="http://schemas.openxmlformats.org/officeDocument/2006/relationships/notesMaster" Target="/ppt/notesMasters/notesMaster1.xml" Id="R68dfa714cedf4c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33a48f685413c" /><Relationship Type="http://schemas.openxmlformats.org/officeDocument/2006/relationships/notesMaster" Target="/ppt/notesMasters/notesMaster1.xml" Id="Rb108a9baa1b941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5da210d73345a5" /><Relationship Type="http://schemas.openxmlformats.org/officeDocument/2006/relationships/notesMaster" Target="/ppt/notesMasters/notesMaster1.xml" Id="Rd870d063278047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b46d6f12fb448f" /><Relationship Type="http://schemas.openxmlformats.org/officeDocument/2006/relationships/notesMaster" Target="/ppt/notesMasters/notesMaster1.xml" Id="Rf3fbbaa5788047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91b6f26339444e" /><Relationship Type="http://schemas.openxmlformats.org/officeDocument/2006/relationships/notesMaster" Target="/ppt/notesMasters/notesMaster1.xml" Id="R230c332d44974d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6b111b74094ad9" /><Relationship Type="http://schemas.openxmlformats.org/officeDocument/2006/relationships/notesMaster" Target="/ppt/notesMasters/notesMaster1.xml" Id="R7020fd0960a948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ec6ac4ee0f4e15" /><Relationship Type="http://schemas.openxmlformats.org/officeDocument/2006/relationships/notesMaster" Target="/ppt/notesMasters/notesMaster1.xml" Id="R8355b5d30c804b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a21e6dcc5d47a6" /><Relationship Type="http://schemas.openxmlformats.org/officeDocument/2006/relationships/notesMaster" Target="/ppt/notesMasters/notesMaster1.xml" Id="Rec925eb6541e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8ea567de042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540bf8d9d834720" /><Relationship Type="http://schemas.openxmlformats.org/officeDocument/2006/relationships/slideLayout" Target="/ppt/slideLayouts/slideLayout2.xml" Id="R7c9942b5410e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942b5410e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99ecaa6844ead" /><Relationship Type="http://schemas.openxmlformats.org/officeDocument/2006/relationships/notesSlide" Target="/ppt/notesSlides/notesSlide1.xml" Id="Rd68adaff3544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858b7ee1a4595" /><Relationship Type="http://schemas.openxmlformats.org/officeDocument/2006/relationships/notesSlide" Target="/ppt/notesSlides/notesSlide2.xml" Id="R9d466db95c38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badd9470894bc2" /><Relationship Type="http://schemas.openxmlformats.org/officeDocument/2006/relationships/notesSlide" Target="/ppt/notesSlides/notesSlide3.xml" Id="R1e0008c3b47a45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7fdad806648b0" /><Relationship Type="http://schemas.openxmlformats.org/officeDocument/2006/relationships/notesSlide" Target="/ppt/notesSlides/notesSlide4.xml" Id="Rb4ec8d766792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a7f4e8da547c5" /><Relationship Type="http://schemas.openxmlformats.org/officeDocument/2006/relationships/notesSlide" Target="/ppt/notesSlides/notesSlide5.xml" Id="R516a24c9b6684c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c6c5df944f4933" /><Relationship Type="http://schemas.openxmlformats.org/officeDocument/2006/relationships/chart" Target="/ppt/slides/charts/chart1.xml" Id="Rb6b29c67ea234dfc" /><Relationship Type="http://schemas.openxmlformats.org/officeDocument/2006/relationships/notesSlide" Target="/ppt/notesSlides/notesSlide6.xml" Id="Ra4ddad83e84540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557f139c448f0" /><Relationship Type="http://schemas.openxmlformats.org/officeDocument/2006/relationships/notesSlide" Target="/ppt/notesSlides/notesSlide7.xml" Id="Re34f4c41fcb541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3c5271cbd4d75" /><Relationship Type="http://schemas.openxmlformats.org/officeDocument/2006/relationships/notesSlide" Target="/ppt/notesSlides/notesSlide8.xml" Id="Rf521c2e6b8c34d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b6a0370e94774" /><Relationship Type="http://schemas.openxmlformats.org/officeDocument/2006/relationships/notesSlide" Target="/ppt/notesSlides/notesSlide9.xml" Id="R9ef267696023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688b9279d4fcf" /><Relationship Type="http://schemas.openxmlformats.org/officeDocument/2006/relationships/notesSlide" Target="/ppt/notesSlides/notesSlide10.xml" Id="Rb788a3dd91c548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805dc54784af5" /><Relationship Type="http://schemas.openxmlformats.org/officeDocument/2006/relationships/notesSlide" Target="/ppt/notesSlides/notesSlide11.xml" Id="Rfbdf588073134a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4df70d6d7a41e2" /><Relationship Type="http://schemas.openxmlformats.org/officeDocument/2006/relationships/notesSlide" Target="/ppt/notesSlides/notesSlide12.xml" Id="R1fc02e5bf39c49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71ced7004a4bc0" /><Relationship Type="http://schemas.openxmlformats.org/officeDocument/2006/relationships/notesSlide" Target="/ppt/notesSlides/notesSlide13.xml" Id="R2bf8b6c97dc84c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85f460bdd41e2" /><Relationship Type="http://schemas.openxmlformats.org/officeDocument/2006/relationships/notesSlide" Target="/ppt/notesSlides/notesSlide14.xml" Id="R3d9908b3178b49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76ec9f6aa4a02" /><Relationship Type="http://schemas.openxmlformats.org/officeDocument/2006/relationships/notesSlide" Target="/ppt/notesSlides/notesSlide15.xml" Id="Rcfcee2e0780d4d18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Overall F1 comparison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F1</c:v>
          </c:tx>
          <c:cat>
            <c:strLit>
              <c:ptCount val="5"/>
              <c:pt idx="0">
                <c:v>Proposed</c:v>
              </c:pt>
              <c:pt idx="1">
                <c:v>TranAD</c:v>
              </c:pt>
              <c:pt idx="2">
                <c:v>LSTM AE</c:v>
              </c:pt>
              <c:pt idx="3">
                <c:v>WAN</c:v>
              </c:pt>
              <c:pt idx="4">
                <c:v>CNN+Attn</c:v>
              </c:pt>
            </c:strLit>
          </c:cat>
          <c:val>
            <c:numLit>
              <c:formatCode/>
              <c:ptCount val="5"/>
              <c:pt idx="0">
                <c:v>0.945</c:v>
              </c:pt>
              <c:pt idx="1">
                <c:v>0.895</c:v>
              </c:pt>
              <c:pt idx="2">
                <c:v>0.799</c:v>
              </c:pt>
              <c:pt idx="3">
                <c:v>0.92</c:v>
              </c:pt>
              <c:pt idx="4">
                <c:v>0.89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4D9DD3-A716-41BC-B28B-1C2DDC4E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92E5B-B4F6-42E8-9565-294E0B5F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left-field">
            <a:extLst xmlns:a="http://schemas.openxmlformats.org/drawingml/2006/main">
              <a:ext uri="{FF2B5EF4-FFF2-40B4-BE49-F238E27FC236}">
                <a16:creationId xmlns:a16="http://schemas.microsoft.com/office/drawing/2014/main" id="{7499F586-67EE-4E2E-B72B-8331F9D9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8E072-EAD6-44FF-8A01-E9A9E9F7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1389602" cy="599313"/>
          </a:xfrm>
          <a:prstGeom xmlns:a="http://schemas.openxmlformats.org/drawingml/2006/main" prst="roundRect">
            <a:avLst>
              <a:gd name="adj" fmla="val 28608"/>
            </a:avLst>
          </a:prstGeom>
          <a:solidFill xmlns:a="http://schemas.openxmlformats.org/drawingml/2006/main">
            <a:srgbClr val="1F9BB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6EED5-6ADD-498D-AF22-4B7ADE42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9150"/>
            <a:ext cx="1047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论文大纲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522DD-0DF5-4B79-9330-EE5D3AF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52" y="742950"/>
            <a:ext cx="2379916" cy="599313"/>
          </a:xfrm>
          <a:prstGeom xmlns:a="http://schemas.openxmlformats.org/drawingml/2006/main" prst="roundRect">
            <a:avLst>
              <a:gd name="adj" fmla="val 28608"/>
            </a:avLst>
          </a:prstGeom>
          <a:solidFill xmlns:a="http://schemas.openxmlformats.org/drawingml/2006/main">
            <a:srgbClr val="2F855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0E2EE-A561-4508-8FD1-EDFC67F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19150"/>
            <a:ext cx="2038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核电 OT / AI 异常检测评审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9E779-6631-4208-AE6F-70C32B5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81724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面向核电厂的人工智能异常检测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与可解释网络安全分析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E1A42-2639-4813-BFBA-FE2526BA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5295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550" b="0">
                <a:solidFill>
                  <a:srgbClr val="BFD7EA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BFD7EA"/>
                </a:solidFill>
                <a:latin typeface="PingFang SC"/>
                <a:ea typeface="PingFang SC"/>
                <a:cs typeface="PingFang SC"/>
              </a:rPr>
              <a:t>章节概要、研究重点与四维评审判断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38354-9D1B-4D03-9A83-E1F12987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核心评判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DFB46-49E3-420C-AE2F-4E93DE7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53340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方向成立，架构有价值；但目前证据仍是方法可行性与实验室原型，不能直接等同于核电现场可部署成熟度。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4825D-65FF-4DD1-9BE3-598B7636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529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创新性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867F2-569F-49C8-9EDC-61A1E4A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552950"/>
            <a:ext cx="742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9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EB26D-F1FC-49D6-B5A9-10D548D9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53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C"/>
          </a:solidFill>
          <a:ln xmlns:a="http://schemas.openxmlformats.org/drawingml/2006/main" w="0">
            <a:solidFill>
              <a:srgbClr val="D9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8CED0-51AE-427D-A782-D8396A69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正确性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137CB-32F3-4806-945C-B0E741E4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181600"/>
            <a:ext cx="742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9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3/5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2C539-52E7-4CAC-B720-A9FF4171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007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C"/>
          </a:solidFill>
          <a:ln xmlns:a="http://schemas.openxmlformats.org/drawingml/2006/main" w="0">
            <a:solidFill>
              <a:srgbClr val="D9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9EBA1-E2AD-4FA8-B875-B2DA207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8102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可实施性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AE5AB-5FC3-4A89-93D3-61A57E4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810250"/>
            <a:ext cx="742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950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2.5/5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D0D37-14A9-4992-AE22-D576B5C6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C"/>
          </a:solidFill>
          <a:ln xmlns:a="http://schemas.openxmlformats.org/drawingml/2006/main" w="0">
            <a:solidFill>
              <a:srgbClr val="D9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7D3AD-668A-43C1-B485-FE52720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4579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可验证性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739EC-D88E-4D6D-9FC1-20C689F8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457950"/>
            <a:ext cx="742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950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2.5/5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5333A-B7F0-4251-B13E-125D21A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877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C"/>
          </a:solidFill>
          <a:ln xmlns:a="http://schemas.openxmlformats.org/drawingml/2006/main" w="0">
            <a:solidFill>
              <a:srgbClr val="D9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6BE66-AE06-49AC-9E4D-F028B2B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15450"/>
            <a:ext cx="1657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0">
                <a:solidFill>
                  <a:srgbClr val="7E93A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E93AA"/>
                </a:solidFill>
                <a:latin typeface="Aptos"/>
                <a:ea typeface="Aptos"/>
                <a:cs typeface="Aptos"/>
              </a:rPr>
              <a:t>Based on supplied thesis PDF | Review lens: NPP Cybersecurity AI Skill Pack</a:t>
            </a:r>
          </a:p>
        </p:txBody>
      </p:sp>
    </p:spTree>
    <p:extLst>
      <p:ext uri="{BB962C8B-B14F-4D97-AF65-F5344CB8AC3E}">
        <p14:creationId xmlns:p14="http://schemas.microsoft.com/office/powerpoint/2010/main" val="925828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EB29D1-7CB0-45A0-9E28-50B01AE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8E3F-2762-4481-A3B2-419CBDC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EXECUTIVE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54F22-CEB7-4667-9513-387193F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01155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这篇论文的主线：从跨层可观测到可治理规则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2433A-4001-4A5E-8323-12A87D58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08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不是“AI 接管核电网络安全”，而是把 AI 限定为异常发现、结构化解释与规则工程辅助。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D2CF9-9644-4031-AB10-86F6179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4983"/>
            <a:ext cx="5359400" cy="6190450"/>
          </a:xfrm>
          <a:prstGeom xmlns:a="http://schemas.openxmlformats.org/drawingml/2006/main" prst="roundRect">
            <a:avLst>
              <a:gd name="adj" fmla="val 355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54E5B-FFAD-4FEF-B88B-8081A8EE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技术支柱一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6931E-094E-41AC-A48D-D5091BF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4781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跨层异常检测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4D261-1000-4B73-A3A1-3DCD00C5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7815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网络、PLC、过程变量同步成 10 Hz 多变量序列；以正常样本训练 Dual TCN + Transformer 重构模型。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276C2-8B54-48D7-8041-56CFE99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984983"/>
            <a:ext cx="5359400" cy="6190450"/>
          </a:xfrm>
          <a:prstGeom xmlns:a="http://schemas.openxmlformats.org/drawingml/2006/main" prst="roundRect">
            <a:avLst>
              <a:gd name="adj" fmla="val 355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7AB07-6A76-4E26-9DD1-6A90DC4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技术支柱二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B2A65-BA95-4FDC-BE87-8BB0B3D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4781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结构化规则合成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85C1-5179-476D-A358-030BAEE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7815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CauseCard 将遥测窗口转成可解析 JSON；LLM 仅用于离线结构化生成，再作为规则接口。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62657-916B-40A6-BC22-D7F8E2F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2984983"/>
            <a:ext cx="5359400" cy="6190450"/>
          </a:xfrm>
          <a:prstGeom xmlns:a="http://schemas.openxmlformats.org/drawingml/2006/main" prst="roundRect">
            <a:avLst>
              <a:gd name="adj" fmla="val 355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4CB06-2E30-4B2A-AE78-095774D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27660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评审结论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75400-E671-4F5A-AB8A-5C08CD72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771900"/>
            <a:ext cx="4781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可作为方法论文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2BA0B-6928-4A45-8103-665AB726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38650"/>
            <a:ext cx="4781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需要补齐法规标准映射、工程部署边界、独立验证集、V&amp;V 门禁和告警治理对象。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A6D82-2E3F-4015-BE2A-265E9AE5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5EB6-F9BB-4A9D-90AE-303DCF11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论文摘要、Chapter 1、Chapter 6-7</a:t>
            </a:r>
          </a:p>
        </p:txBody>
      </p:sp>
    </p:spTree>
    <p:extLst>
      <p:ext uri="{BB962C8B-B14F-4D97-AF65-F5344CB8AC3E}">
        <p14:creationId xmlns:p14="http://schemas.microsoft.com/office/powerpoint/2010/main" val="1002898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DCBFDA-BC6D-41B2-93A3-7A2B46AB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DDE92-98C4-4738-AFC3-8D653DD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75D99-D8F5-49E7-8DE0-38C62D4D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8096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Introduction：问题定义与研究目标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51AF4-278F-4FD6-970F-DC5A41E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781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核电 OT 事件被定义为网络、控制器与物理过程耦合传播的问题。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1E9DB-D022-44E4-9D64-879CC0E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概要与重点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D9AB7-66FB-4F37-83CD-0127360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CBF57-A051-4A54-AE1F-EDBC2C8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研究动机：核电 OT 需要跨网络、控制、过程层的安全监测。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877CB-F1E2-449E-814A-3B4AB32C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A8693-B569-4B42-BF93-9A35CA5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核心问题：既要发现未知异常，又要输出可审查、可部署的监测知识。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63E78-D96E-4F92-A69C-49D908A3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3C4E1-6F2E-4F1E-859D-E062208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8477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研究目标：构建闭环试验环境、normal-only 异常检测、结构化 CauseCard 与规则接口。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FCE70-C2C8-4E94-8F7A-018402B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2791892"/>
            <a:ext cx="7082790" cy="6307341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36655-FC77-4BF6-B1BC-1FDF3FFA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86100"/>
            <a:ext cx="643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12F58-0897-4A20-B312-F40095DD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00450"/>
            <a:ext cx="643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问题设定准确，且主动声明不是现场可部署系统。建议进一步明确安全相关系统边界、CDA 范围和合规审查对象。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0D7AE-2DD7-468B-9309-FA886814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3A97C-5C4B-463A-A3A7-3B4EE10C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chapter 1; extracted and reviewed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6166411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6BC5C9D-2699-4AD7-A182-6A1C30D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F399-F048-476E-B02E-B2700C40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F0AD0-F38C-4CFF-A33C-A5169102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8058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Background：相关工作与论文定位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44055-D01B-4A24-A0C3-78A3E37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086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论文把核电 OT 网络安全放在 CPS 异常检测、XAI、OT-SIEM 和 LLM 辅助分析之间。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7CB59-F0FE-4076-B2C0-0034D0FC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F9BB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9BB4"/>
                </a:solidFill>
                <a:latin typeface="PingFang SC"/>
                <a:ea typeface="PingFang SC"/>
                <a:cs typeface="PingFang SC"/>
              </a:rPr>
              <a:t>概要与重点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83C9D-8271-4A98-A62A-3F0032A6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FFDE-3491-4AF6-AE19-E9948EC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强调核电网络安全不是传统 IT 检测，而是 cyber-physical 监测。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26FCE-2F3B-4EAD-8440-6511D0AE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D4B47-0FE5-408E-8FA2-C662DBFD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引用 TCN、Transformer、TranAD、DTAAD、POT 等方法基础。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CB686-9389-4E46-BB06-EED550CE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88E8-3ABE-49B7-B2B9-F4A858AA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对 LLM 的定位较谨慎：生成受约束中间对象，而不是运行时自由决策。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0AD1-E729-4E15-A631-BE4398C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3404083"/>
            <a:ext cx="7082790" cy="5695150"/>
          </a:xfrm>
          <a:prstGeom xmlns:a="http://schemas.openxmlformats.org/drawingml/2006/main" prst="roundRect">
            <a:avLst>
              <a:gd name="adj" fmla="val 36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75E50-6E6A-43FF-A022-FDD086DD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95700"/>
            <a:ext cx="643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EDDD4-BD4B-4C6B-9B22-C98A0F55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10050"/>
            <a:ext cx="643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文献综述能支撑技术路线，但核电网络安全标准体系明显不足。应补 IEC 62645、IEC 62859、IAEA NSS、IEC 62443 与中国关保/等保映射。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D8805-EF45-42C2-A676-FA40C6B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305C1-A7F1-47F3-AD72-B4CD5BA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chapter 2; extracted and reviewed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18472519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BCC386-A800-41B8-8D25-DEE3F51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C6E15-E8DE-442A-B047-C168BB7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2F9E0-CDD2-4014-BCD2-09FFCAC3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8077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Testbed：跨层试验环境与数据基础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842DB-B315-48E9-8BBC-4BCB1FA5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9334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Asherah 仿真器 + 模拟 Siemens S7-1500 PLC + OPC UA + 抓包，形成三层同步数据。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DDE8E-5550-41A4-ADD4-6B4F7712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概要与重点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2DEDC-A77B-4CA1-BB7B-6642C26B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3FDBD-9D17-4F75-85B4-A10324EF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三类数据：IT/network、PLC/controller、process/physical。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75A17-8202-468F-86CA-350BA56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F030C-6F00-4040-8F60-3CD9E10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10 Hz 对齐，16 分钟共 9600 行；10 分钟正常训练，3 个 2 分钟攻击评估。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6B20E-E7CA-468D-889C-1D28F19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10660-D7C9-4EF1-A79C-7F05052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攻击场景：IT 网络扰动、PLC/ICS 操作、过程侧 false data injection。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EED08-4320-42F8-B84E-2B85EE17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3404083"/>
            <a:ext cx="7082790" cy="5695150"/>
          </a:xfrm>
          <a:prstGeom xmlns:a="http://schemas.openxmlformats.org/drawingml/2006/main" prst="roundRect">
            <a:avLst>
              <a:gd name="adj" fmla="val 36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CE991-FCD3-4EE3-933C-1F78B58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95700"/>
            <a:ext cx="643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79B04-AA67-45CB-87FF-1959033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10050"/>
            <a:ext cx="643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实验环境结构清楚，适合作方法验证；但正常数据时长和攻击覆盖太窄，不能代表真实机组长期工况、维护窗口、漂移和噪声。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91DAC-1588-4111-B591-784B4F4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3B5B2-7A56-481E-A108-D255980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chapter 3; extracted and reviewed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8015267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DB43AC-0389-453B-A502-2F6C9E00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5BCAE-DD34-4BB6-BF15-35D5918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3B892-5F4B-4AE9-AA41-3BDF61C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3538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Data-driven anomaly detection：跨层异常检测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2C691-D646-4E5B-984A-845BAFC1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8877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Dual TCN + Transformer 用重构误差发现异常，再用分组残差给出粗粒度域级诊断。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93BC4-3837-4335-907A-FA2DF1D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7277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E982B-19D6-47A0-9205-3E4F236B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C4587-2D62-4709-8A97-C7E3F3EF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输入：100 步窗口，对应 10 秒跨层序列。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6D68-4C0A-4351-B029-BDE9FD7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5F0FE-A364-4080-9825-BF9F36C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阈值：POT 极值理论校准异常分数。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C9EED-1195-44AA-BED7-ED83048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2215-19DA-4B0E-8193-C354EB5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诊断：按 IT / PLC / Process 三组聚合残差。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44437-2D2E-485C-8128-D0719D45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B15DB-9C1E-476F-9E99-B256739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76850"/>
            <a:ext cx="674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结果：F1 0.945，ROC-AUC 0.985；域级诊断 accuracy 0.88。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FC98B-0834-4AF2-B7C6-06B7B50B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727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6000"/>
              </a:lnSpc>
              <a:buNone/>
              <a:defRPr sz="1875" b="0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评审：检测结果强于无监督基线，但 diagnosis 不是因果根因分析，只能作为 triage cue。</a:t>
            </a:r>
          </a:p>
        </p:txBody>
      </p:sp>
      <p:graphicFrame>
        <p:nvGraphicFramePr>
          <p:cNvPr id="15" name="f1-chart"/>
          <p:cNvGraphicFramePr/>
          <p:nvPr/>
        </p:nvGraphicFramePr>
        <p:xfrm>
          <a:off xmlns:a="http://schemas.openxmlformats.org/drawingml/2006/main" x="8573453" y="3327883"/>
          <a:ext xmlns:a="http://schemas.openxmlformats.org/drawingml/2006/main" cx="8895398" cy="584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b29c67ea234dfc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533FC-64FD-4575-B279-DB540E6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1D980-3A80-4F85-BC39-C51832B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Table 4.2 and Table 4.4</a:t>
            </a:r>
          </a:p>
        </p:txBody>
      </p:sp>
    </p:spTree>
    <p:extLst>
      <p:ext uri="{BB962C8B-B14F-4D97-AF65-F5344CB8AC3E}">
        <p14:creationId xmlns:p14="http://schemas.microsoft.com/office/powerpoint/2010/main" val="6561397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FEAADE4-1ADC-471C-9D13-438301CA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5802-19F9-43E8-90F5-31062B8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68538-ECD6-42AF-AF25-0E47C180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2268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CauseCard：结构化知识形式化与 LLM 辅助规则合成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70889-B57B-4963-8431-884217D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LLM 被约束为离线生成 CauseCard JSON，运行时逻辑仍应是确定性规则。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E236-7D22-42AA-A3A2-EAA1411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概要与重点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CDD1E-C8E6-4B4F-9204-5CA24BA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22579-BB76-4D93-8EC8-0D90EAD1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Schema：label、cause.type、evidence[field, pattern]。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4DF3-1741-47E7-873E-8E5E445A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07783-5390-4E35-81FB-453EBD9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模型：Llama-3-8B-Instruct，4-bit + LoRA 微调。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3404-A907-4104-B7ED-41B07FEC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DD73D-8D45-4FEB-9182-6320B88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评估：480 个 prepared corpus 样本上 JSON 有效率和分类指标均为 1.0。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C8A2-45DC-452F-9C8E-D0FFB3B4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2448992"/>
            <a:ext cx="7082790" cy="6650241"/>
          </a:xfrm>
          <a:prstGeom xmlns:a="http://schemas.openxmlformats.org/drawingml/2006/main" prst="roundRect">
            <a:avLst>
              <a:gd name="adj" fmla="val 31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08C13-AFD4-40B5-A1A5-9A2B04F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43200"/>
            <a:ext cx="643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A1F28-FA4D-4A57-BA82-9EC76C68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57550"/>
            <a:ext cx="643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结构化生成思路很好，但评估过于乐观：最终混淆矩阵不是严格独立测试，且规则导出只到 schema-level interface。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08D41-4F0F-4497-A858-4E963E5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ED04E-A5D7-4356-A992-6AA4DD1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chapter 5; extracted and reviewed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19808350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8D0157-F5C7-4F2E-86EF-11ADF13F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0DBA-0526-41DD-BBE7-6DE287A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CHAPTER 6-7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AA950-3A2E-41C8-8A8E-312CBD1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277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Discussion &amp; Conclusion：混合监测架构的主张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A2061-0D50-49A3-8B40-1FDCB37C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76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论文最终主张：异常检测负责发现，确定性规则负责治理与部署。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4E570-AC12-4555-B82D-76ADF4D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01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概要与重点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CEED4-20DB-47FD-AB32-08B33141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E0C1-FAEF-460A-87D2-C2233DF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明确承认不是完整生产系统，证据来自仿真和实验室。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788A7-DEF4-469E-9B3F-07EF46D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127AC-FD63-4FC7-BBE6-894B757B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提出未来架构：遥测基础层、异常发现层、结构化解释层、确定性规则层。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66EAE-F31B-42AF-90D8-CF1E0DA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F0F87-E1C9-4C1F-82A6-25BF151D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结论克制：AI 是增强可视性、发现和审计逻辑生成的工具。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A637-72FA-4C3F-AE3F-33DA17B2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2448992"/>
            <a:ext cx="7082790" cy="6650241"/>
          </a:xfrm>
          <a:prstGeom xmlns:a="http://schemas.openxmlformats.org/drawingml/2006/main" prst="roundRect">
            <a:avLst>
              <a:gd name="adj" fmla="val 315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9266A-3917-4100-A699-BA266AA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43200"/>
            <a:ext cx="6438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评审判断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7C8E9-3630-4D2F-9914-F32DFFD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57550"/>
            <a:ext cx="6438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总体结论方向正确，符合核电 OT 对可审计、可治理的要求。还需补充人类复核流程、变更控制、模型漂移和证据链管理。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8E20B-CC4C-4967-A09C-02DB4AE0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C799D-04E8-42E2-8110-763FE1F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Thesis chapter 6-7; extracted and reviewed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4158148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DFD3DC4-FCFB-4DC0-81F9-16ECA303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F04F9-8D97-4DEC-9E73-61433704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ARCHITECTURE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E8F46-0B69-45F1-9850-14A7086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734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论文实际贡献是一条“发现到规则”的研究链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6E798-C79B-49B0-B711-0A6C581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8458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最有价值的是把 anomaly score、结构化解释和规则治理放在同一条方法路径中。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8CF22-22A2-4435-B6AC-E1E56BF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2B6CB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18B67-3132-4366-8C6D-16EA01D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3162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Telemetry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841B-BAA7-45C4-8968-A5A8DFA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316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网络 / PLC / 过程变量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10 Hz 同步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AC5E5-C3DD-490C-AA16-77A8EB4A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BB4"/>
          </a:solidFill>
          <a:ln xmlns:a="http://schemas.openxmlformats.org/drawingml/2006/main" w="0">
            <a:solidFill>
              <a:srgbClr val="1F9B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EFA0-3CB7-4206-B9E3-83DEC27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9850"/>
            <a:ext cx="3162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Anomaly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F8FA7-D7F3-4940-A9EF-609F419F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316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Dual TCN + Transformer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normal-only reconstruction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BBF4A-5602-4041-97D2-C8E254F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47B26-42FB-4409-B2DD-EC70E98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3162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Coarse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2D47C-2C40-4C46-82BC-7B1FEA5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81400"/>
            <a:ext cx="316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Grouped residual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IT / PLC / 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878F4-DA3C-4BA6-9449-E4F2DA1C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812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42B8C-B5C9-4320-A654-E86E784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09850"/>
            <a:ext cx="3162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CauseCard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formalization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60E87-9F18-48A5-8FBC-82FC3BD8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81400"/>
            <a:ext cx="316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受约束 JSON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原因 + 证据元组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2C23E-7447-46F9-8D15-0D1DFE3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3812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B00CC-0413-437B-A527-795AB6BF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609850"/>
            <a:ext cx="3162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Rule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4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42ACF-EF17-4C2D-9053-63D4DA36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581400"/>
            <a:ext cx="316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可审查、可测试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OT-SIEM 规则雏形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340D9-283C-4BC9-87AB-D069CE8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16C18-E64C-4343-8441-E79E034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Synthesized from Chapters 3-6</a:t>
            </a:r>
          </a:p>
        </p:txBody>
      </p:sp>
    </p:spTree>
    <p:extLst>
      <p:ext uri="{BB962C8B-B14F-4D97-AF65-F5344CB8AC3E}">
        <p14:creationId xmlns:p14="http://schemas.microsoft.com/office/powerpoint/2010/main" val="18656765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886EB1-DDBE-4A26-BD12-E1FEBB1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5ED96-0ED7-425F-BBD1-7739C106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REVIEW DIMENSION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C5DC4-FEB3-4133-8DFA-85C9A65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6395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创新性评审：架构组合有价值，算法原创性中等偏上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52F75-84EA-4971-950B-09951A4E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09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创新主要体现在核电 OT 场景化集成，而非单一模型突破。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A07BC-86CC-463F-B161-2A929AB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429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05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639B4-79AE-4F88-94AF-E4DFA6A9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综合评分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4DB3C-3C55-4879-97F9-D8BBE8B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2B6CB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59A3B-4A4A-4798-9025-ECA8C81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429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基于核电 OT 网络安全与 AI 治理技能包：AI 仅作为可解释、可审计、人工复核的证据生成能力。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5B2A2-9492-4C52-AEAF-7C856BCA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073AC-3B58-46E9-AC02-B491308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成立之处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D96F-92B7-41BF-8FCD-45076E3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B622F-AFAC-4526-AB8F-A6E9A51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跨层遥测统一建模符合核电 cyber-physical 特征。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657D7-3A6A-410C-88FC-7E4B9962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0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BC503-07AE-4FE1-96DF-D53BC1F5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CauseCard 将解释压缩为可审查中间对象。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B3D84-02F2-4353-BCC0-1639B316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86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466A5-8A85-4117-BF06-DAA3F19D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863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LLM 被限制为离线结构化生成，治理姿态正确。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E3D71-07A1-426B-9A74-D9545FB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002CE-5CC9-45D2-AB00-CADB78A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需要补强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FD400-7373-4523-AD7B-B73CDC8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B15FD-2B02-4613-8542-9D904583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8290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Dual TCN + Transformer 与已有 DTAAD/TranAD 思路边界需讲清。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D09F0-9A56-422E-A85E-FD76A590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610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F5496-06C6-4D56-9E67-7F4E43D0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101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CauseCard 与 LLM-LADE 的差异需要更明确。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FECEC-78B2-46DE-AC21-78BE350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086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83054-E140-4E2B-8A23-D5494C7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0863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“核电厂”特色应通过标准、资产和工况进一步固化。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0144E-37CC-4592-8F6D-BC9A685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130B9-B71E-42AB-B8FD-167E0F71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Review dimensions: innovation, correctness, implementability, verifiability</a:t>
            </a:r>
          </a:p>
        </p:txBody>
      </p:sp>
    </p:spTree>
    <p:extLst>
      <p:ext uri="{BB962C8B-B14F-4D97-AF65-F5344CB8AC3E}">
        <p14:creationId xmlns:p14="http://schemas.microsoft.com/office/powerpoint/2010/main" val="16258391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F5E1AC-EDF0-4F8F-96FC-6415221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54D3C-96B1-4681-B001-ECF30693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REVIEW DIMENSION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EB97E-1183-4538-9E6D-34437E7B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0610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正确性评审：方法自洽，但实验外推应保持克制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6B794-856F-4C86-9452-055A250B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10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论文内部逻辑较严谨，最大问题是证据强度不足以支撑工程级结论。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37361-5E6D-4404-8F4F-19CEAA3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429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3/5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BB07D-68BD-4AEA-8520-211D081A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综合评分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4A2BA-649A-4150-927B-7B60A15F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55F7A-8BB3-470D-8253-20942956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429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基于核电 OT 网络安全与 AI 治理技能包：AI 仅作为可解释、可审计、人工复核的证据生成能力。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AF200-657C-4878-8A20-2E8D2DE7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9D32B-B756-4AB0-95C1-0CE4B49A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成立之处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EE2E5-606A-42DC-879B-D51ACD94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5B7F6-9246-4F13-9112-DDC6B3A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normal-only 设定符合核电攻击标签稀缺现实。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B1C2C-1766-46C3-AACF-278D95C6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86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8FDDF-9373-4E0A-9090-FC650788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POT 阈值、训练集归一化、分组残差表述较规范。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D73E0-B01C-44A3-87D6-3758E72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6121F-473A-4809-8AA8-D3FC1D50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多处主动承认仿真/实验室限制，避免过度宣称。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E49F0-D4B4-46C7-9810-4C22A88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BF879-1027-4783-A34C-DED088FD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需要补强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CE13C-97A0-4947-9F6D-7848B43E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66502-F635-42E3-BF31-CCC4132D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8290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10 分钟正常训练过短，难覆盖真实运行变化。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94CBF-640D-4B63-B694-D641024F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286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FA5A9-DC13-4F5A-9E05-719A5944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2862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第 5 章最终指标基于 prepared corpus，泛化证据弱。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B1900-9729-46A1-9B10-E26BE8A7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086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3B77D-41AC-4BC3-9986-8EB5DDF9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0863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grouped residual 不应被表述为根因或因果归因。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CD749-6F4B-4BF4-BE56-CEFCAC8D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8B927-F887-44A9-B1FA-830CADF8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Review dimensions: innovation, correctness, implementability, verifiability</a:t>
            </a:r>
          </a:p>
        </p:txBody>
      </p:sp>
    </p:spTree>
    <p:extLst>
      <p:ext uri="{BB962C8B-B14F-4D97-AF65-F5344CB8AC3E}">
        <p14:creationId xmlns:p14="http://schemas.microsoft.com/office/powerpoint/2010/main" val="7688530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EAAB842-3821-48EE-8504-6E6B0C20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CB741-F740-4938-882E-0CADDB36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REVIEW DIMENSION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65A8B-801C-48EF-A9CA-804B3D5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1125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可实施性评审：原型路径清楚，工程部署边界不足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8112D-8615-463A-9FD7-1FCD9136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2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可做实验室原型或离线分析工具，但还不是核电 OT 现场部署方案。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F7D98-282F-4C42-BF54-31746257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429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0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2.5/5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0C958-5F12-4BB7-8B1F-A706B96F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综合评分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A2F16-8AE3-43F8-AFCA-F74AF3A1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90AE2-9E08-4150-B9CA-78991A2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429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基于核电 OT 网络安全与 AI 治理技能包：AI 仅作为可解释、可审计、人工复核的证据生成能力。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08A6A-7465-47FE-8AA6-0192CA4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C9D54-7DF1-415B-8C24-2629E94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成立之处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008D-3BFE-4750-A9AA-5B5F3FF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F1CCA-2542-4504-BCF2-704FDB3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被动采集、normal-only、确定性规则接口具备工程方向。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04801-A744-4249-8C59-BA97A007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0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0BB5A-648F-42A1-BE85-2E5BD7C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LLM 不在运行时保护路径，降低自动化风险。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02482-B5A4-4EBF-897E-218645BC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86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EA4B-82D7-4274-AA0A-DF23A89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863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SIEM-like rule interface 提供了后续落地入口。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98563-770E-404E-B3E0-4ED4216B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04033"/>
            <a:ext cx="6200775" cy="615235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B8C1E-03A5-460D-840D-D8F9ADC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2766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需要补强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7E9FC-CD56-4AD0-8DD7-71F60527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8290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BFDB1-A9D8-4BA6-995C-359C8D7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8290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未定义 OT 分区、工业 DMZ、单向传输和只读接口。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07DB0-BA87-4E24-ADEF-F631CF0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6101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78065-213C-434E-84E8-7C939DC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6101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未给出 CDA 清单、通信矩阵和远程访问边界。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244CA-85ED-452B-B218-9509B29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0863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E2671-ECF0-4D03-BDA9-8B9BE93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0863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缺少告警生命周期、人类复核、审计导出和变更控制流程。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7DA92-85EE-4286-9FB6-9F6D931C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47DFB-7467-4831-8611-8DF0960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Review dimensions: innovation, correctness, implementability, verifiability</a:t>
            </a:r>
          </a:p>
        </p:txBody>
      </p:sp>
    </p:spTree>
    <p:extLst>
      <p:ext uri="{BB962C8B-B14F-4D97-AF65-F5344CB8AC3E}">
        <p14:creationId xmlns:p14="http://schemas.microsoft.com/office/powerpoint/2010/main" val="1039809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2CFEEC-6004-4165-A1F2-4CF3246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0693-4404-45E4-957F-DB2C2AAA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REVIEW DIMENSION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D2B3C-A45A-4379-B346-25EB694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505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可验证性评审：有实验指标，缺 V&amp;V 门禁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545AF-B9F9-46A4-958E-31036AD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115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论文证明了“能跑通”，尚未证明“可被核电工程流程接受”。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E5554-EBA2-4C60-A3E0-8F6DC9E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3429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70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2.5/5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C8740-FFA9-4C08-B60E-FCFB1575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综合评分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13731-6242-40AB-80F7-5284CF2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17C99-642A-4654-94FB-75BD75B2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3429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基于核电 OT 网络安全与 AI 治理技能包：AI 仅作为可解释、可审计、人工复核的证据生成能力。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5D036-EDC6-4981-8DEE-4A7A331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46933"/>
            <a:ext cx="6200775" cy="58094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E4A8C-3028-480E-A534-A6A387C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195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成立之处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70E2-3BD2-4481-8ADF-7AAF9BA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31D54-1C03-4C7E-B2C5-D8C6B42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第 4 章有对比基线、消融和诊断指标。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D8DE-3B4B-412E-96F9-9E7A09CD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291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8097D-069F-47B6-AC65-CEABE44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第 5 章有 JSON 有效性和结构化输出评估。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E5FB4-54CA-45D2-B23C-2AC00275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054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9C7CE-1B7D-4581-8044-BA8616F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054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论文明确区分方法证据与现场部署证据。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6C928-5128-4994-A9FC-CFF827E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346933"/>
            <a:ext cx="6200775" cy="58094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D805F-F25B-47E0-BF29-EB6F57A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619500"/>
            <a:ext cx="560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需要补强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A1AA9-2B7F-48D0-BBAE-275834F7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71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2276D-8DE0-422F-A67C-CF48CCA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1719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缺少独立测试集、跨工况、噪声、缺失数据和漂移测试。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75C8E-62B1-475D-B9C4-80B8CC2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953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E80EC-D675-4FD3-B6E6-1CDA1B9A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95300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缺少检测延迟、事件级评分和误报负担评估。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087FB-3CF3-4A61-BCE3-0CFD9F6C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429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2AA20-E356-4CA4-926D-C800E9C8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429250"/>
            <a:ext cx="506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缺少模型卡、数据卡、规则版本、阈值变更和回归验证记录。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528B1-2F72-429D-8D60-B8DD16CF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11E8A-316B-47EC-8C1C-54AFE81B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Review dimensions: innovation, correctness, implementability, verifiability</a:t>
            </a:r>
          </a:p>
        </p:txBody>
      </p:sp>
    </p:spTree>
    <p:extLst>
      <p:ext uri="{BB962C8B-B14F-4D97-AF65-F5344CB8AC3E}">
        <p14:creationId xmlns:p14="http://schemas.microsoft.com/office/powerpoint/2010/main" val="156766948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6371576-6003-4322-BEB6-F8F5FF2A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4325-B1A1-4E63-965E-3FF19AA2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GAP REGISTER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4F0BD-4E78-434A-8CC3-F89DBC8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677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作为核电 OT 安全方案，还缺哪些关键证据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C5FD5-BAF4-46C5-9241-2812FD8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7010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这些不是否定论文，而是从方法论文走向工程方案必须补齐的门槛。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1B161-471D-454A-8DFE-C6C9CD41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8481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B909-8B87-4F51-96D5-DDA394E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6210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当前不足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1295E-B071-443A-9BBA-6484616F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381250"/>
            <a:ext cx="6210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建议补充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1C791-5068-4041-ADA8-88E430D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8481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法规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7A44F-7AD9-4C11-81AF-B8FE1D1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核电网络安全标准映射不足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D38C5-2302-47F5-A3DC-34840FE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7338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 IEC 62645 / IAEA NSS / IEC 62443 / 中国关保等保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F8F6-8FB9-4276-91BF-2FE12C9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8481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0F023-7754-4952-ACA9-78AF80EC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未给 OT 部署边界和 CDA 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0BE42-473E-4677-B60F-E98229C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1435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补分区分域、工业 DMZ、通信矩阵、只读采集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4A744-531B-42DE-BE6E-A5FBC76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38481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081AA-5F0C-4ADF-887D-A0AC1C7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53415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泛化与漂移证据弱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F4592-1E79-4BB0-B719-430864E6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补长周期正常工况、噪声、缺失、漂移和未见攻击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718C1-4086-42F4-8154-A2787280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24800"/>
            <a:ext cx="38481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98E1-44B1-4FD6-ACDC-FB105035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9248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告警、人审、变更流程不足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AC061-12FE-4B66-A2D0-134D3A4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924800"/>
            <a:ext cx="62103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补告警对象、证据链、人工复核、模型/规则版本控制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D2CB6-A7D2-4065-A9D2-5AA7F3B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7F5FE-2B08-477A-8B0F-6F65F08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Mapped to NPP Cybersecurity AI Skill Pack constraints</a:t>
            </a:r>
          </a:p>
        </p:txBody>
      </p:sp>
    </p:spTree>
    <p:extLst>
      <p:ext uri="{BB962C8B-B14F-4D97-AF65-F5344CB8AC3E}">
        <p14:creationId xmlns:p14="http://schemas.microsoft.com/office/powerpoint/2010/main" val="2051409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0887A8C-B032-4140-B0FE-12814CBD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0FEDC-EDA5-402C-83CD-4CCE1961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RECOMMENDED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F6677-CEC7-42C3-9E47-EED0220F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9906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建议把论文定位为“方法可行性 + 架构价值”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395A-FC6E-4B1E-ADD1-E8F30192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353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若要增强答辩/评审说服力，优先补证据链，而不是继续堆模型复杂度。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D853F-65F0-4A60-A73C-3BEED73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811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2B6CB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6CB0"/>
                </a:solidFill>
                <a:latin typeface="PingFang SC"/>
                <a:ea typeface="PingFang SC"/>
                <a:cs typeface="PingFang SC"/>
              </a:rPr>
              <a:t>修改优先级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85B48-ED89-479D-9B0B-06E92CA2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410DE-80E4-4FC1-B248-228A392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增加核电网络安全合规基线与标准映射。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784E7-1D04-45C1-B7CC-2C4DC269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B8B12-539E-43BF-8070-8897366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补充工程部署图：OT 只读采集、DMZ、规则执行区、审计库。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7856B-2F8A-46EB-953E-B0ACF5B5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F30C6-6EFC-4587-8486-4E1A066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把 CauseCard 扩展为完整 Alert Object。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59340-3B39-4EFD-9ABE-94F14BAE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73148-7302-46B8-96C1-B39F1FF6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重新设计第 5 章独立验证与泛化测试。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F157B-77BF-4B2C-BDF9-021D5EA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F9B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9BB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ABA8C-1EE4-47A4-9AEE-0D39543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05500"/>
            <a:ext cx="758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增加 V&amp;V gates、模型卡、数据卡和变更控制。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FFB98-3C6B-4B5E-A812-E775360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65983"/>
            <a:ext cx="8105775" cy="5771350"/>
          </a:xfrm>
          <a:prstGeom xmlns:a="http://schemas.openxmlformats.org/drawingml/2006/main" prst="roundRect">
            <a:avLst>
              <a:gd name="adj" fmla="val 3961"/>
            </a:avLst>
          </a:prstGeom>
          <a:solidFill xmlns:a="http://schemas.openxmlformats.org/drawingml/2006/main">
            <a:srgbClr val="102033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B0564-2A9C-41AC-9143-4311431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最终评判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A4BEF-835A-4754-B119-31F1CBBC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74295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可通过为一篇有价值的方法研究论文；不宜宣称已形成核电厂可直接部署的成熟网络安全 AI 系统。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E1CB9-4FD1-4A3B-950B-83C7CBB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007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A"/>
          </a:solidFill>
          <a:ln xmlns:a="http://schemas.openxmlformats.org/drawingml/2006/main" w="0">
            <a:solidFill>
              <a:srgbClr val="365F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C9F86-87F6-440D-BC57-60B28168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67450"/>
            <a:ext cx="742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C6D7E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6D7E5"/>
                </a:solidFill>
                <a:latin typeface="PingFang SC"/>
                <a:ea typeface="PingFang SC"/>
                <a:cs typeface="PingFang SC"/>
              </a:rPr>
              <a:t>最好的表述是：提供跨层可观测、未知异常发现、结构化解释和规则工程之间的研究路径。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73441-3512-4345-92C9-E2A706C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6B299-8D0B-4EE5-9F5C-AC6E856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05950"/>
            <a:ext cx="1493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A87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A8796"/>
                </a:solidFill>
                <a:latin typeface="Aptos"/>
                <a:ea typeface="Aptos"/>
                <a:cs typeface="Aptos"/>
              </a:rPr>
              <a:t>Final review judgment</a:t>
            </a:r>
          </a:p>
        </p:txBody>
      </p:sp>
    </p:spTree>
    <p:extLst>
      <p:ext uri="{BB962C8B-B14F-4D97-AF65-F5344CB8AC3E}">
        <p14:creationId xmlns:p14="http://schemas.microsoft.com/office/powerpoint/2010/main" val="2121717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2026-04-30T06:31:02.2410000Z</dcterms:created>
  <dcterms:modified xsi:type="dcterms:W3CDTF">2026-04-30T06:31:02.2410000Z</dcterms:modified>
</coreProperties>
</file>